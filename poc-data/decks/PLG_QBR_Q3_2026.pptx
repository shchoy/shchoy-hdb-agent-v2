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Vacant units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Bayshore Vale</c:v>
                </c:pt>
                <c:pt idx="1">
                  <c:v>Cendana</c:v>
                </c:pt>
                <c:pt idx="2">
                  <c:v>Kebun Raya</c:v>
                </c:pt>
                <c:pt idx="3">
                  <c:v>Rimba Heights</c:v>
                </c:pt>
                <c:pt idx="4">
                  <c:v>Sungai Tinggi</c:v>
                </c:pt>
                <c:pt idx="5">
                  <c:v>Pasir Indah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3</c:v>
                </c:pt>
                <c:pt idx="5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arrears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Oct 25</c:v>
                </c:pt>
                <c:pt idx="1">
                  <c:v>Nov 25</c:v>
                </c:pt>
                <c:pt idx="2">
                  <c:v>Dec 25</c:v>
                </c:pt>
                <c:pt idx="3">
                  <c:v>Jan 26</c:v>
                </c:pt>
                <c:pt idx="4">
                  <c:v>Feb 26</c:v>
                </c:pt>
                <c:pt idx="5">
                  <c:v>Mar 26</c:v>
                </c:pt>
                <c:pt idx="6">
                  <c:v>Apr 26</c:v>
                </c:pt>
                <c:pt idx="7">
                  <c:v>May 26</c:v>
                </c:pt>
                <c:pt idx="8">
                  <c:v>Jun 26</c:v>
                </c:pt>
                <c:pt idx="9">
                  <c:v>Jul 26</c:v>
                </c:pt>
                <c:pt idx="10">
                  <c:v>Aug 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254635</c:v>
                </c:pt>
                <c:pt idx="1">
                  <c:v>283258</c:v>
                </c:pt>
                <c:pt idx="2">
                  <c:v>355623</c:v>
                </c:pt>
                <c:pt idx="3">
                  <c:v>289264</c:v>
                </c:pt>
                <c:pt idx="4">
                  <c:v>368278</c:v>
                </c:pt>
                <c:pt idx="5">
                  <c:v>347874</c:v>
                </c:pt>
                <c:pt idx="6">
                  <c:v>351154</c:v>
                </c:pt>
                <c:pt idx="7">
                  <c:v>441614</c:v>
                </c:pt>
                <c:pt idx="8">
                  <c:v>525075</c:v>
                </c:pt>
                <c:pt idx="9">
                  <c:v>627644</c:v>
                </c:pt>
                <c:pt idx="10">
                  <c:v>804834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Hygiene (Tenant)</c:v>
                </c:pt>
                <c:pt idx="1">
                  <c:v>Plumbing &amp; Sanitary</c:v>
                </c:pt>
                <c:pt idx="2">
                  <c:v>Water Seepage / Leak</c:v>
                </c:pt>
                <c:pt idx="3">
                  <c:v>Common Area (Town Council)</c:v>
                </c:pt>
                <c:pt idx="4">
                  <c:v>Pest</c:v>
                </c:pt>
                <c:pt idx="5">
                  <c:v>Electrical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29</c:v>
                </c:pt>
                <c:pt idx="2">
                  <c:v>27</c:v>
                </c:pt>
                <c:pt idx="3">
                  <c:v>21</c:v>
                </c:pt>
                <c:pt idx="4">
                  <c:v>17</c:v>
                </c:pt>
                <c:pt idx="5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Vacancy counted incl. units under tender (consistent with previous QBRs). TODO Kelvin to confirm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Arrears rose from Q2 as a few large minimarts and eating houses fell behind. Termination threshold is now &gt;3 months under POL-003 v2.0.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Leaf Minimart: LOD issued 1 Aug; no payment. Will go to Director if Sept rent unpaid.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Seepage and hygiene top the list. Display encroachment cases expected to drop after Circular 07/2026.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PLG Quarterly Business Review -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Properties &amp; Land Group | 24 September 2026 | Data as at 31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Portfolio and vacancy</a:t>
            </a:r>
          </a:p>
          <a:p>
            <a:pPr>
              <a:defRPr sz="1800"/>
            </a:pPr>
            <a:r>
              <a:t>• Rental arrears</a:t>
            </a:r>
          </a:p>
          <a:p>
            <a:pPr>
              <a:defRPr sz="1800"/>
            </a:pPr>
            <a:r>
              <a:t>• Feedback, defects and i-EMS</a:t>
            </a:r>
          </a:p>
          <a:p>
            <a:pPr>
              <a:defRPr sz="1800"/>
            </a:pPr>
            <a:r>
              <a:t>• Inspections and enforcement</a:t>
            </a:r>
          </a:p>
          <a:p>
            <a:pPr>
              <a:defRPr sz="1800"/>
            </a:pPr>
            <a:r>
              <a:t>• Renewals pipeline</a:t>
            </a:r>
          </a:p>
          <a:p>
            <a:pPr>
              <a:defRPr sz="1800"/>
            </a:pPr>
            <a:r>
              <a:t>• Key issues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Portfolio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1,645 commercial units across 6 towns and 18 NCs</a:t>
            </a:r>
          </a:p>
          <a:p>
            <a:pPr>
              <a:defRPr sz="1800"/>
            </a:pPr>
            <a:r>
              <a:t>• 1,587 active tenancies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371600"/>
          <a:ext cx="53949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Bayshore Vale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Cendana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Kebun Raya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Rimba Heights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Sungai 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Pasir Indah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Vacancy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52 vacant units as at 31 Aug 2026</a:t>
            </a:r>
          </a:p>
          <a:p>
            <a:pPr>
              <a:defRPr sz="1800"/>
            </a:pPr>
            <a:r>
              <a:t>• Highest in older void-deck blocks</a:t>
            </a:r>
          </a:p>
          <a:p>
            <a:pPr>
              <a:defRPr sz="1800"/>
            </a:pPr>
            <a:r>
              <a:t>• Next tender closes 5 Oct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371600"/>
          <a:ext cx="5394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Rental arrears trend (month-end, S$)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10972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Top arrears cases (31 Aug)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Tenancy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TA-2024-00319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Barakah Boba Bar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S$28,318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TA-2024-00182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Hup Seng Eating House Pte 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S$26,749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TA-2024-00185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Hup Seng Learning Centre Pte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S$21,909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TA-2025-00548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Little Sprouts Family Clinic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S$17,440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TA-2024-00542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Golden Leaf Minimart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S$17,004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TA-2026-00054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Treasure Mart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S$16,742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Public feedback Jul-Aug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10972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i-EMS SLA by team (Jul-Aug)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SLA met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Civil &amp; 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Estate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M&amp;E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59%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Inspections and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Rimba Heights tablet pilot live since Dec 2025</a:t>
            </a:r>
          </a:p>
          <a:p>
            <a:pPr>
              <a:defRPr sz="1800"/>
            </a:pPr>
            <a:r>
              <a:t>• Unauthorised subletting case at Lucky Star Hair Studio still open</a:t>
            </a:r>
          </a:p>
          <a:p>
            <a:pPr>
              <a:defRPr sz="1800"/>
            </a:pPr>
            <a:r>
              <a:t>• Audit IA-03: follow-ups overdue - weekly review started in Aug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Renewals pipeline (Oct 2026 - Mar 2027)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276 tenancies expiring</a:t>
            </a:r>
          </a:p>
          <a:p>
            <a:pPr>
              <a:defRPr sz="1800"/>
            </a:pPr>
            <a:r>
              <a:t>• Several late applications (inside 6-month window)</a:t>
            </a:r>
          </a:p>
          <a:p>
            <a:pPr>
              <a:defRPr sz="1800"/>
            </a:pPr>
            <a:r>
              <a:t>• Market rent valuations by Lumina Valuers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Key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IA-02: Heng Ann Confectionery rent mismatch - refund in progress</a:t>
            </a:r>
          </a:p>
          <a:p>
            <a:pPr>
              <a:defRPr sz="1800"/>
            </a:pPr>
            <a:r>
              <a:t>• IA-04: SOP-014 still not aligned with POL-003 v2.0</a:t>
            </a:r>
          </a:p>
          <a:p>
            <a:pPr>
              <a:defRPr sz="1800"/>
            </a:pPr>
            <a:r>
              <a:t>• Tenant FAQ withdrawn (deposit error)</a:t>
            </a:r>
          </a:p>
          <a:p>
            <a:pPr>
              <a:defRPr sz="1800"/>
            </a:pPr>
            <a:r>
              <a:t>• Super-librarian POC kicked off with synthetic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Close SOP-014 update by 15 Oct</a:t>
            </a:r>
          </a:p>
          <a:p>
            <a:pPr>
              <a:defRPr sz="1800"/>
            </a:pPr>
            <a:r>
              <a:t>• Tender PLG/T/2026/09 award by end Oct</a:t>
            </a:r>
          </a:p>
          <a:p>
            <a:pPr>
              <a:defRPr sz="1800"/>
            </a:pPr>
            <a:r>
              <a:t>• Review NC display pilot data in Q1 2027</a:t>
            </a:r>
          </a:p>
          <a:p>
            <a:pPr>
              <a:defRPr sz="1800"/>
            </a:pPr>
            <a:r>
              <a:t>• Monthly arrears war-room for &gt; 90 day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PLG Quarterly Business Review Q3 2026</dc:title>
  <dc:subject/>
  <dc:creator>Rajesh Pillai</dc:creator>
  <cp:keywords/>
  <dc:description>generated using python-pptx</dc:description>
  <cp:lastModifiedBy>Rajesh Pillai</cp:lastModifiedBy>
  <cp:revision>1</cp:revision>
  <dcterms:created xsi:type="dcterms:W3CDTF">2026-09-15T09:00:00Z</dcterms:created>
  <dcterms:modified xsi:type="dcterms:W3CDTF">2026-09-15T09:00:00Z</dcterms:modified>
  <cp:category/>
</cp:coreProperties>
</file>